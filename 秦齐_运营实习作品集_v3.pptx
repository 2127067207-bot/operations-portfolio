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观看</c:v>
          </c:tx>
          <c:spPr>
            <a:solidFill>
              <a:srgbClr val="0D5E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32D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星核猎手</c:v>
                </c:pt>
                <c:pt idx="1">
                  <c:v>海灯节</c:v>
                </c:pt>
                <c:pt idx="2">
                  <c:v>RWBY 色环剪辑</c:v>
                </c:pt>
                <c:pt idx="3">
                  <c:v>新 sp 这个帅</c:v>
                </c:pt>
                <c:pt idx="4">
                  <c:v>刃可是我们村出了名的美人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1961</c:v>
                </c:pt>
                <c:pt idx="1">
                  <c:v>1632</c:v>
                </c:pt>
                <c:pt idx="2">
                  <c:v>893</c:v>
                </c:pt>
                <c:pt idx="3">
                  <c:v>702</c:v>
                </c:pt>
                <c:pt idx="4">
                  <c:v>653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A4-4537-8821-D47B174491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3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作品集封面。账号数据来自小红书创作后台，统计日期为 2026 年 9 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1961 为 ACG 二创账号单条最高观看。16.8% 为生活方式账号近 7 天封面点击率。20% 为高顿教育内容复盘后的平均阅读量提升。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数据来源：小红书创作后台。只展示公开作品和账号级汇总数据，不包含仅自己可见内容。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数据来源：小红书创作后台。观看、点赞、收藏和评论均为平台后台公开统计值。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数据来源：小红书创作后台，统计周期为 2026 年 9 月 10 日至 9 月 16 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数据来源：小红书创作后台。表格仅保留公开作品的观看、点赞、收藏和分享数据。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项目材料来自用户提供的剧本、人物设定、场景、分镜和本地视频。先导片未公开发布，不引用传播数据。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角色图来自用户提供的 Word 设定文档。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画面抽帧来自用户提供的 15.13 秒本地 MP4。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校园与社团经历、研究项目均来自用户提供的原始简历。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项目来自用户的 IP运营实习生测试作业。作品集省略 HR 通知中的姓名、联系方式和截止时间。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图片内容来自用户提供的测试作业。该作业未公开发布，因此不引用传播结果。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传播文案与创作思路来自用户提供的测试作业，未注明平台发布数据。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账号链接为公开分享链接。作品集未展示仅自己可见的笔记。内容工具包括剪映、醒图、豆包、BananaFish、Gemini 和 GPT。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6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24062" r="24062"/>
          <a:stretch>
            <a:fillRect/>
          </a:stretch>
        </p:blipFill>
        <p:spPr>
          <a:xfrm>
            <a:off x="5867400" y="0"/>
            <a:ext cx="6324600" cy="6858000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BF5F360C-364B-425C-B9D7-B32FCD3FB75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运营实习作品集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36633BF6-FCDD-4B0F-91DE-02E9AF608594}"/>
              </a:ext>
            </a:extLst>
          </p:cNvPr>
          <p:cNvSpPr>
            <a:spLocks noGrp="1"/>
          </p:cNvSpPr>
          <p:nvPr/>
        </p:nvSpPr>
        <p:spPr>
          <a:xfrm>
            <a:off x="647700" y="2952750"/>
            <a:ext cx="34290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D7D0"/>
                </a:solidFill>
                <a:latin typeface="Arial"/>
                <a:ea typeface="Arial"/>
                <a:cs typeface="Arial"/>
              </a:rPr>
              <a:t>内容运营</a:t>
            </a:r>
          </a:p>
          <a:p>
            <a:pPr algn="l">
              <a:defRPr sz="1650" b="1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D7D0"/>
                </a:solidFill>
                <a:latin typeface="Arial"/>
                <a:ea typeface="Arial"/>
                <a:cs typeface="Arial"/>
              </a:rPr>
              <a:t>用户运营</a:t>
            </a:r>
          </a:p>
          <a:p>
            <a:pPr algn="l">
              <a:defRPr sz="1650" b="1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D7D0"/>
                </a:solidFill>
                <a:latin typeface="Arial"/>
                <a:ea typeface="Arial"/>
                <a:cs typeface="Arial"/>
              </a:rPr>
              <a:t>产品运营</a:t>
            </a:r>
          </a:p>
        </p:txBody>
      </p:sp>
      <p:sp>
        <p:nvSpPr>
          <p:cNvPr id="4" name="cover-name">
            <a:extLst>
              <a:ext uri="{FF2B5EF4-FFF2-40B4-BE49-F238E27FC236}">
                <a16:creationId xmlns:a16="http://schemas.microsoft.com/office/drawing/2014/main" id="{E7400625-DE4E-46A4-AB6A-B7032DB5D267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秦齐</a:t>
            </a:r>
          </a:p>
        </p:txBody>
      </p:sp>
      <p:sp>
        <p:nvSpPr>
          <p:cNvPr id="5" name="cover-contact">
            <a:extLst>
              <a:ext uri="{FF2B5EF4-FFF2-40B4-BE49-F238E27FC236}">
                <a16:creationId xmlns:a16="http://schemas.microsoft.com/office/drawing/2014/main" id="{1FD16E91-877F-4589-ADA8-4FDD4CF81DF4}"/>
              </a:ext>
            </a:extLst>
          </p:cNvPr>
          <p:cNvSpPr>
            <a:spLocks noGrp="1"/>
          </p:cNvSpPr>
          <p:nvPr/>
        </p:nvSpPr>
        <p:spPr>
          <a:xfrm>
            <a:off x="647700" y="5638800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D9E5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A"/>
                </a:solidFill>
                <a:latin typeface="Arial"/>
                <a:ea typeface="Arial"/>
                <a:cs typeface="Arial"/>
              </a:rPr>
              <a:t>武汉</a:t>
            </a:r>
          </a:p>
          <a:p>
            <a:pPr algn="l">
              <a:defRPr sz="975" b="0">
                <a:solidFill>
                  <a:srgbClr val="D9E5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A"/>
                </a:solidFill>
                <a:latin typeface="Arial"/>
                <a:ea typeface="Arial"/>
                <a:cs typeface="Arial"/>
              </a:rPr>
              <a:t>15087151290</a:t>
            </a:r>
          </a:p>
          <a:p>
            <a:pPr algn="l">
              <a:defRPr sz="975" b="0">
                <a:solidFill>
                  <a:srgbClr val="D9E5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A"/>
                </a:solidFill>
                <a:latin typeface="Arial"/>
                <a:ea typeface="Arial"/>
                <a:cs typeface="Arial"/>
              </a:rPr>
              <a:t>qmjianli@qq.com</a:t>
            </a:r>
          </a:p>
        </p:txBody>
      </p:sp>
    </p:spTree>
    <p:extLst>
      <p:ext uri="{BB962C8B-B14F-4D97-AF65-F5344CB8AC3E}">
        <p14:creationId xmlns:p14="http://schemas.microsoft.com/office/powerpoint/2010/main" val="203602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-2">
            <a:extLst>
              <a:ext uri="{FF2B5EF4-FFF2-40B4-BE49-F238E27FC236}">
                <a16:creationId xmlns:a16="http://schemas.microsoft.com/office/drawing/2014/main" id="{6133E4B6-FC63-459D-8C37-591406A6C51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能力概览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C7D1140-C834-4CB4-A4D2-CC2DAAAC8202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从用户洞察到内容增长</a:t>
            </a:r>
          </a:p>
        </p:txBody>
      </p:sp>
      <p:sp>
        <p:nvSpPr>
          <p:cNvPr id="3" name="metric-1">
            <a:extLst>
              <a:ext uri="{FF2B5EF4-FFF2-40B4-BE49-F238E27FC236}">
                <a16:creationId xmlns:a16="http://schemas.microsoft.com/office/drawing/2014/main" id="{167A66FA-B2B4-446C-8DB7-0F7E4403F3B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1961</a:t>
            </a:r>
          </a:p>
          <a:p>
            <a:pPr algn="l">
              <a:defRPr sz="255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单条最高观看</a:t>
            </a:r>
          </a:p>
        </p:txBody>
      </p:sp>
      <p:sp>
        <p:nvSpPr>
          <p:cNvPr id="4" name="metric-2">
            <a:extLst>
              <a:ext uri="{FF2B5EF4-FFF2-40B4-BE49-F238E27FC236}">
                <a16:creationId xmlns:a16="http://schemas.microsoft.com/office/drawing/2014/main" id="{4A881056-1612-4ACC-9C0E-77CA821E44F9}"/>
              </a:ext>
            </a:extLst>
          </p:cNvPr>
          <p:cNvSpPr>
            <a:spLocks noGrp="1"/>
          </p:cNvSpPr>
          <p:nvPr/>
        </p:nvSpPr>
        <p:spPr>
          <a:xfrm>
            <a:off x="4457700" y="16954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0B8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8B83"/>
                </a:solidFill>
                <a:latin typeface="Arial"/>
                <a:ea typeface="Arial"/>
                <a:cs typeface="Arial"/>
              </a:rPr>
              <a:t>16.8%</a:t>
            </a:r>
          </a:p>
          <a:p>
            <a:pPr algn="l">
              <a:defRPr sz="2550" b="1">
                <a:solidFill>
                  <a:srgbClr val="0B8B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8B83"/>
                </a:solidFill>
                <a:latin typeface="Arial"/>
                <a:ea typeface="Arial"/>
                <a:cs typeface="Arial"/>
              </a:rPr>
              <a:t>封面点击率</a:t>
            </a:r>
          </a:p>
        </p:txBody>
      </p:sp>
      <p:sp>
        <p:nvSpPr>
          <p:cNvPr id="5" name="metric-3">
            <a:extLst>
              <a:ext uri="{FF2B5EF4-FFF2-40B4-BE49-F238E27FC236}">
                <a16:creationId xmlns:a16="http://schemas.microsoft.com/office/drawing/2014/main" id="{F69528AA-2C98-4946-B229-8E4BA92137B2}"/>
              </a:ext>
            </a:extLst>
          </p:cNvPr>
          <p:cNvSpPr>
            <a:spLocks noGrp="1"/>
          </p:cNvSpPr>
          <p:nvPr/>
        </p:nvSpPr>
        <p:spPr>
          <a:xfrm>
            <a:off x="8229600" y="1695450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E65F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65F4C"/>
                </a:solidFill>
                <a:latin typeface="Arial"/>
                <a:ea typeface="Arial"/>
                <a:cs typeface="Arial"/>
              </a:rPr>
              <a:t>20%</a:t>
            </a:r>
          </a:p>
          <a:p>
            <a:pPr algn="l">
              <a:defRPr sz="2550" b="1">
                <a:solidFill>
                  <a:srgbClr val="E65F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65F4C"/>
                </a:solidFill>
                <a:latin typeface="Arial"/>
                <a:ea typeface="Arial"/>
                <a:cs typeface="Arial"/>
              </a:rPr>
              <a:t>平均阅读量提升</a:t>
            </a:r>
          </a:p>
        </p:txBody>
      </p:sp>
      <p:sp>
        <p:nvSpPr>
          <p:cNvPr id="6" name="capability-1">
            <a:extLst>
              <a:ext uri="{FF2B5EF4-FFF2-40B4-BE49-F238E27FC236}">
                <a16:creationId xmlns:a16="http://schemas.microsoft.com/office/drawing/2014/main" id="{44897A9B-2446-4111-8767-74950DE98172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85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内容策划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从评论、搜索词和用户反馈中提炼需求，完成选题、标题、封面与内容结构设计。</a:t>
            </a:r>
          </a:p>
        </p:txBody>
      </p:sp>
      <p:sp>
        <p:nvSpPr>
          <p:cNvPr id="7" name="capability-2">
            <a:extLst>
              <a:ext uri="{FF2B5EF4-FFF2-40B4-BE49-F238E27FC236}">
                <a16:creationId xmlns:a16="http://schemas.microsoft.com/office/drawing/2014/main" id="{54CBB112-3987-4F29-AF27-53FA85557F07}"/>
              </a:ext>
            </a:extLst>
          </p:cNvPr>
          <p:cNvSpPr>
            <a:spLocks noGrp="1"/>
          </p:cNvSpPr>
          <p:nvPr/>
        </p:nvSpPr>
        <p:spPr>
          <a:xfrm>
            <a:off x="4457700" y="3295650"/>
            <a:ext cx="285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用户增长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用用户分层、反馈分析和转化漏斗定位问题，并通过活动与社群运营推动变化。</a:t>
            </a:r>
          </a:p>
        </p:txBody>
      </p:sp>
      <p:sp>
        <p:nvSpPr>
          <p:cNvPr id="8" name="capability-3">
            <a:extLst>
              <a:ext uri="{FF2B5EF4-FFF2-40B4-BE49-F238E27FC236}">
                <a16:creationId xmlns:a16="http://schemas.microsoft.com/office/drawing/2014/main" id="{9AE2946D-C2BC-42AE-A4F3-D2DEF9852B43}"/>
              </a:ext>
            </a:extLst>
          </p:cNvPr>
          <p:cNvSpPr>
            <a:spLocks noGrp="1"/>
          </p:cNvSpPr>
          <p:nvPr/>
        </p:nvSpPr>
        <p:spPr>
          <a:xfrm>
            <a:off x="8229600" y="3295650"/>
            <a:ext cx="3143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数据与 AI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使用 Excel、Python、Stata 完成分析。视频使用剪映剪辑，图片使用醒图处理，AI 生图使用豆包、BananaFish、Gemini 和 GPT。</a:t>
            </a:r>
          </a:p>
        </p:txBody>
      </p:sp>
      <p:sp>
        <p:nvSpPr>
          <p:cNvPr id="9" name="footer-left-2">
            <a:extLst>
              <a:ext uri="{FF2B5EF4-FFF2-40B4-BE49-F238E27FC236}">
                <a16:creationId xmlns:a16="http://schemas.microsoft.com/office/drawing/2014/main" id="{2F4BC44A-EAA3-4F2A-AAE8-18DC982D468E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10" name="footer-right-2">
            <a:extLst>
              <a:ext uri="{FF2B5EF4-FFF2-40B4-BE49-F238E27FC236}">
                <a16:creationId xmlns:a16="http://schemas.microsoft.com/office/drawing/2014/main" id="{8AA55B43-6E93-42FA-9D69-F65847D73AA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430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icker-3">
            <a:extLst>
              <a:ext uri="{FF2B5EF4-FFF2-40B4-BE49-F238E27FC236}">
                <a16:creationId xmlns:a16="http://schemas.microsoft.com/office/drawing/2014/main" id="{7BFDD25E-F151-47AD-B1BD-0E5D227DEF03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案例一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5B295FAD-6E50-4069-8665-31ECB0D5AF1E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ACG 二创账号的内容表现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15705" b="15705"/>
          <a:stretch>
            <a:fillRect/>
          </a:stretch>
        </p:blipFill>
        <p:spPr>
          <a:xfrm>
            <a:off x="495300" y="1657350"/>
            <a:ext cx="5715000" cy="3295650"/>
          </a:xfrm>
          <a:prstGeom prst="rect">
            <a:avLst/>
          </a:prstGeom>
        </p:spPr>
      </p:pic>
      <p:sp>
        <p:nvSpPr>
          <p:cNvPr id="4" name="ceci-caption">
            <a:extLst>
              <a:ext uri="{FF2B5EF4-FFF2-40B4-BE49-F238E27FC236}">
                <a16:creationId xmlns:a16="http://schemas.microsoft.com/office/drawing/2014/main" id="{8C1A94F5-5D2C-4075-BEF5-BB519C78C04F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账号主页仅展示公开信息，不包含“仅自己可见”的笔记。</a:t>
            </a:r>
          </a:p>
        </p:txBody>
      </p:sp>
      <p:sp>
        <p:nvSpPr>
          <p:cNvPr id="5" name="ceci-title">
            <a:extLst>
              <a:ext uri="{FF2B5EF4-FFF2-40B4-BE49-F238E27FC236}">
                <a16:creationId xmlns:a16="http://schemas.microsoft.com/office/drawing/2014/main" id="{FD3528BB-921E-4178-AAA0-CB9F3B996DE2}"/>
              </a:ext>
            </a:extLst>
          </p:cNvPr>
          <p:cNvSpPr>
            <a:spLocks noGrp="1"/>
          </p:cNvSpPr>
          <p:nvPr/>
        </p:nvSpPr>
        <p:spPr>
          <a:xfrm>
            <a:off x="6781800" y="16954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游戏与动漫角色二创</a:t>
            </a:r>
          </a:p>
        </p:txBody>
      </p:sp>
      <p:sp>
        <p:nvSpPr>
          <p:cNvPr id="6" name="ceci-copy">
            <a:extLst>
              <a:ext uri="{FF2B5EF4-FFF2-40B4-BE49-F238E27FC236}">
                <a16:creationId xmlns:a16="http://schemas.microsoft.com/office/drawing/2014/main" id="{6FBFFF2F-B672-4974-8380-63E24DFE98B5}"/>
              </a:ext>
            </a:extLst>
          </p:cNvPr>
          <p:cNvSpPr>
            <a:spLocks noGrp="1"/>
          </p:cNvSpPr>
          <p:nvPr/>
        </p:nvSpPr>
        <p:spPr>
          <a:xfrm>
            <a:off x="6781800" y="2343150"/>
            <a:ext cx="45720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围绕角色热点、经典片头与情绪关系持续生产短视频。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账号累计获得 73 名粉丝和 2153 次获赞与收藏。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单条最高观看 1961，带动 304 次点赞、72 次收藏和 5 次分享。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仅引用公开作品和后台汇总数据，不展示私人笔记。</a:t>
            </a:r>
          </a:p>
        </p:txBody>
      </p:sp>
      <p:sp>
        <p:nvSpPr>
          <p:cNvPr id="7" name="footer-left-3">
            <a:extLst>
              <a:ext uri="{FF2B5EF4-FFF2-40B4-BE49-F238E27FC236}">
                <a16:creationId xmlns:a16="http://schemas.microsoft.com/office/drawing/2014/main" id="{F1B6853A-E30C-495B-A614-38BE4D280854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8" name="footer-right-3">
            <a:extLst>
              <a:ext uri="{FF2B5EF4-FFF2-40B4-BE49-F238E27FC236}">
                <a16:creationId xmlns:a16="http://schemas.microsoft.com/office/drawing/2014/main" id="{508214EA-F98F-46E3-B31F-DE1AAE9E7C5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270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-4">
            <a:extLst>
              <a:ext uri="{FF2B5EF4-FFF2-40B4-BE49-F238E27FC236}">
                <a16:creationId xmlns:a16="http://schemas.microsoft.com/office/drawing/2014/main" id="{D565EC1E-DBBC-474B-B5E7-82F46BC3CC4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案例一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C62A7524-BDC3-4D81-BD35-DB31DBE02043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高表现作品的观看与互动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666750" y="1581150"/>
          <a:ext cx="10572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hart-note">
            <a:extLst>
              <a:ext uri="{FF2B5EF4-FFF2-40B4-BE49-F238E27FC236}">
                <a16:creationId xmlns:a16="http://schemas.microsoft.com/office/drawing/2014/main" id="{F84B7799-C361-41E6-A80C-F0AF2E50DBD5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《星核猎手》观看最高。《海灯节》获得 426 次点赞、103 次收藏和 15 条评论。</a:t>
            </a:r>
          </a:p>
        </p:txBody>
      </p:sp>
      <p:sp>
        <p:nvSpPr>
          <p:cNvPr id="5" name="footer-left-4">
            <a:extLst>
              <a:ext uri="{FF2B5EF4-FFF2-40B4-BE49-F238E27FC236}">
                <a16:creationId xmlns:a16="http://schemas.microsoft.com/office/drawing/2014/main" id="{A5C78286-787E-4B24-8A6C-D001E011608D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6" name="footer-right-4">
            <a:extLst>
              <a:ext uri="{FF2B5EF4-FFF2-40B4-BE49-F238E27FC236}">
                <a16:creationId xmlns:a16="http://schemas.microsoft.com/office/drawing/2014/main" id="{35A28695-94CD-4F4C-9DF7-099061B2466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101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-5">
            <a:extLst>
              <a:ext uri="{FF2B5EF4-FFF2-40B4-BE49-F238E27FC236}">
                <a16:creationId xmlns:a16="http://schemas.microsoft.com/office/drawing/2014/main" id="{4CB46D7C-C3AD-4A71-B9AA-442584CBEAE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案例二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61792916-7505-41DF-ABC0-BA5DF9E620DF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生活方式图文账号的流量与点击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077045"/>
            <a:ext cx="5619750" cy="3161109"/>
          </a:xfrm>
          <a:prstGeom prst="rect">
            <a:avLst/>
          </a:prstGeom>
        </p:spPr>
      </p:pic>
      <p:sp>
        <p:nvSpPr>
          <p:cNvPr id="4" name="weight-title">
            <a:extLst>
              <a:ext uri="{FF2B5EF4-FFF2-40B4-BE49-F238E27FC236}">
                <a16:creationId xmlns:a16="http://schemas.microsoft.com/office/drawing/2014/main" id="{2A7E0214-E732-4252-98CC-B03B468280B8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校园、咖啡与实习 plog</a:t>
            </a:r>
          </a:p>
        </p:txBody>
      </p:sp>
      <p:sp>
        <p:nvSpPr>
          <p:cNvPr id="5" name="weight-copy">
            <a:extLst>
              <a:ext uri="{FF2B5EF4-FFF2-40B4-BE49-F238E27FC236}">
                <a16:creationId xmlns:a16="http://schemas.microsoft.com/office/drawing/2014/main" id="{977C1324-99C9-46CA-9970-EFFA2153C4F1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近 7 天获得 3733 次曝光和 605 次观看。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封面点击率达到 16.8%，分享 4 次，环比增长 100%。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代表内容与喜马拉雅实习经历直接关联，可展示内容运营和雇主品牌传播能力。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账号截图仅保留公开作品，不包含私人笔记。</a:t>
            </a:r>
          </a:p>
        </p:txBody>
      </p:sp>
      <p:sp>
        <p:nvSpPr>
          <p:cNvPr id="6" name="footer-left-5">
            <a:extLst>
              <a:ext uri="{FF2B5EF4-FFF2-40B4-BE49-F238E27FC236}">
                <a16:creationId xmlns:a16="http://schemas.microsoft.com/office/drawing/2014/main" id="{25FB58D9-968F-4B4E-B43C-7047F3E4D593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7" name="footer-right-5">
            <a:extLst>
              <a:ext uri="{FF2B5EF4-FFF2-40B4-BE49-F238E27FC236}">
                <a16:creationId xmlns:a16="http://schemas.microsoft.com/office/drawing/2014/main" id="{8DFC29CA-DB36-4C79-89E7-838323F60F8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701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-6">
            <a:extLst>
              <a:ext uri="{FF2B5EF4-FFF2-40B4-BE49-F238E27FC236}">
                <a16:creationId xmlns:a16="http://schemas.microsoft.com/office/drawing/2014/main" id="{59DD83DF-C168-445F-9486-B62584126F9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案例二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54AAEE31-E775-4044-9E68-E94BEF5FBEEA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代表内容与公开互动数据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166938"/>
            <a:ext cx="5334000" cy="300037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/>
        </p:nvGraphicFramePr>
        <p:xfrm>
          <a:off x="6191250" y="1752600"/>
          <a:ext cx="5143499" cy="2381250"/>
        </p:xfrm>
        <a:graphic>
          <a:graphicData uri="http://schemas.openxmlformats.org/drawingml/2006/table">
            <a:tbl>
              <a:tblPr firstRow="1" bandRow="1"/>
              <a:tblGrid>
                <a:gridCol w="2026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作品</a:t>
                      </a:r>
                    </a:p>
                  </a:txBody>
                  <a:tcPr>
                    <a:solidFill>
                      <a:srgbClr val="0D5E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观看</a:t>
                      </a:r>
                    </a:p>
                  </a:txBody>
                  <a:tcPr>
                    <a:solidFill>
                      <a:srgbClr val="0D5E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点赞</a:t>
                      </a:r>
                    </a:p>
                  </a:txBody>
                  <a:tcPr>
                    <a:solidFill>
                      <a:srgbClr val="0D5E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收藏</a:t>
                      </a:r>
                    </a:p>
                  </a:txBody>
                  <a:tcPr>
                    <a:solidFill>
                      <a:srgbClr val="0D5E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分享</a:t>
                      </a:r>
                    </a:p>
                  </a:txBody>
                  <a:tcPr>
                    <a:solidFill>
                      <a:srgbClr val="0D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沪漂收官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茶百道新品浅尝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返校日常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库迪桃桃美式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23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weight-case-note">
            <a:extLst>
              <a:ext uri="{FF2B5EF4-FFF2-40B4-BE49-F238E27FC236}">
                <a16:creationId xmlns:a16="http://schemas.microsoft.com/office/drawing/2014/main" id="{0091DFE8-FEE0-403A-B36B-58263D254A26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沪漂收官内容获得 455 次观看和 5 条评论，适合作为雇主品牌与实习叙事案例。</a:t>
            </a:r>
          </a:p>
        </p:txBody>
      </p:sp>
      <p:sp>
        <p:nvSpPr>
          <p:cNvPr id="6" name="footer-left-6">
            <a:extLst>
              <a:ext uri="{FF2B5EF4-FFF2-40B4-BE49-F238E27FC236}">
                <a16:creationId xmlns:a16="http://schemas.microsoft.com/office/drawing/2014/main" id="{3000C492-79AA-4BC5-BA8F-47DD88FF51B2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7" name="footer-right-6">
            <a:extLst>
              <a:ext uri="{FF2B5EF4-FFF2-40B4-BE49-F238E27FC236}">
                <a16:creationId xmlns:a16="http://schemas.microsoft.com/office/drawing/2014/main" id="{B0822E64-CDBC-4EE6-8177-BF2860684F2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28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-7">
            <a:extLst>
              <a:ext uri="{FF2B5EF4-FFF2-40B4-BE49-F238E27FC236}">
                <a16:creationId xmlns:a16="http://schemas.microsoft.com/office/drawing/2014/main" id="{A47D167C-5DCC-4BB2-B7C3-52D8D8810F9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案例三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EB5ADEA6-3474-4A91-A48C-BF7C7F093450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AI 短剧从文字设定到动态成片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2926" r="2926"/>
          <a:stretch>
            <a:fillRect/>
          </a:stretch>
        </p:blipFill>
        <p:spPr>
          <a:xfrm>
            <a:off x="495300" y="1676400"/>
            <a:ext cx="5657850" cy="3352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12828" b="12828"/>
          <a:stretch>
            <a:fillRect/>
          </a:stretch>
        </p:blipFill>
        <p:spPr>
          <a:xfrm>
            <a:off x="6457950" y="1676400"/>
            <a:ext cx="5238750" cy="2190750"/>
          </a:xfrm>
          <a:prstGeom prst="rect">
            <a:avLst/>
          </a:prstGeom>
        </p:spPr>
      </p:pic>
      <p:sp>
        <p:nvSpPr>
          <p:cNvPr id="5" name="ai-project-copy">
            <a:extLst>
              <a:ext uri="{FF2B5EF4-FFF2-40B4-BE49-F238E27FC236}">
                <a16:creationId xmlns:a16="http://schemas.microsoft.com/office/drawing/2014/main" id="{AF9CA271-C532-4506-AE66-B9A92BDA0879}"/>
              </a:ext>
            </a:extLst>
          </p:cNvPr>
          <p:cNvSpPr>
            <a:spLocks noGrp="1"/>
          </p:cNvSpPr>
          <p:nvPr/>
        </p:nvSpPr>
        <p:spPr>
          <a:xfrm>
            <a:off x="6457950" y="4095750"/>
            <a:ext cx="5048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完成 20 秒公益短片方案与 15 个镜头的 KTV 迷路片段分镜。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输出 4 名角色设定、2 张核心场景图、15.13 秒先导视频和完整剪辑流程。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视频使用剪映剪辑，图片使用醒图处理，AI 生图使用豆包、BananaFish、Gemini 和 GPT。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先导片未公开发布，因此不使用播放量或互动数据。</a:t>
            </a:r>
          </a:p>
        </p:txBody>
      </p:sp>
      <p:sp>
        <p:nvSpPr>
          <p:cNvPr id="6" name="footer-left-7">
            <a:extLst>
              <a:ext uri="{FF2B5EF4-FFF2-40B4-BE49-F238E27FC236}">
                <a16:creationId xmlns:a16="http://schemas.microsoft.com/office/drawing/2014/main" id="{5E741C8E-9E45-4613-90A0-B54DA70F493F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7" name="footer-right-7">
            <a:extLst>
              <a:ext uri="{FF2B5EF4-FFF2-40B4-BE49-F238E27FC236}">
                <a16:creationId xmlns:a16="http://schemas.microsoft.com/office/drawing/2014/main" id="{2D2B06DA-43A7-4D2D-A3EE-7BBB2E46806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6969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-8">
            <a:extLst>
              <a:ext uri="{FF2B5EF4-FFF2-40B4-BE49-F238E27FC236}">
                <a16:creationId xmlns:a16="http://schemas.microsoft.com/office/drawing/2014/main" id="{D87F133D-70E2-4725-8466-BA6E114F74F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案例三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CF8D39C6-8EBD-4F2B-B295-EF4B46C00B0B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角色设定保持跨镜头一致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078444"/>
            <a:ext cx="2552700" cy="1424763"/>
          </a:xfrm>
          <a:prstGeom prst="rect">
            <a:avLst/>
          </a:prstGeom>
        </p:spPr>
      </p:pic>
      <p:sp>
        <p:nvSpPr>
          <p:cNvPr id="4" name="character-label-0">
            <a:extLst>
              <a:ext uri="{FF2B5EF4-FFF2-40B4-BE49-F238E27FC236}">
                <a16:creationId xmlns:a16="http://schemas.microsoft.com/office/drawing/2014/main" id="{D744641D-E783-475B-8E8B-EFCB92F7C42F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女主 燕然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52800" y="2078444"/>
            <a:ext cx="2552700" cy="1424763"/>
          </a:xfrm>
          <a:prstGeom prst="rect">
            <a:avLst/>
          </a:prstGeom>
        </p:spPr>
      </p:pic>
      <p:sp>
        <p:nvSpPr>
          <p:cNvPr id="6" name="character-label-1">
            <a:extLst>
              <a:ext uri="{FF2B5EF4-FFF2-40B4-BE49-F238E27FC236}">
                <a16:creationId xmlns:a16="http://schemas.microsoft.com/office/drawing/2014/main" id="{57FEEC44-BFF7-4F6E-95F2-556195B09153}"/>
              </a:ext>
            </a:extLst>
          </p:cNvPr>
          <p:cNvSpPr>
            <a:spLocks noGrp="1"/>
          </p:cNvSpPr>
          <p:nvPr/>
        </p:nvSpPr>
        <p:spPr>
          <a:xfrm>
            <a:off x="3352800" y="41148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女配 许汀兰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10300" y="2078444"/>
            <a:ext cx="2552700" cy="1424763"/>
          </a:xfrm>
          <a:prstGeom prst="rect">
            <a:avLst/>
          </a:prstGeom>
        </p:spPr>
      </p:pic>
      <p:sp>
        <p:nvSpPr>
          <p:cNvPr id="8" name="character-label-2">
            <a:extLst>
              <a:ext uri="{FF2B5EF4-FFF2-40B4-BE49-F238E27FC236}">
                <a16:creationId xmlns:a16="http://schemas.microsoft.com/office/drawing/2014/main" id="{C2CB0980-91C8-49DF-A417-947301DD103B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男配 黎禹山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67800" y="2078790"/>
            <a:ext cx="2552700" cy="1424071"/>
          </a:xfrm>
          <a:prstGeom prst="rect">
            <a:avLst/>
          </a:prstGeom>
        </p:spPr>
      </p:pic>
      <p:sp>
        <p:nvSpPr>
          <p:cNvPr id="10" name="character-label-3">
            <a:extLst>
              <a:ext uri="{FF2B5EF4-FFF2-40B4-BE49-F238E27FC236}">
                <a16:creationId xmlns:a16="http://schemas.microsoft.com/office/drawing/2014/main" id="{95EAF21B-AFE2-42B7-A63E-2D098503F43D}"/>
              </a:ext>
            </a:extLst>
          </p:cNvPr>
          <p:cNvSpPr>
            <a:spLocks noGrp="1"/>
          </p:cNvSpPr>
          <p:nvPr/>
        </p:nvSpPr>
        <p:spPr>
          <a:xfrm>
            <a:off x="9067800" y="41148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女配 周浮光</a:t>
            </a:r>
          </a:p>
        </p:txBody>
      </p:sp>
      <p:sp>
        <p:nvSpPr>
          <p:cNvPr id="11" name="character-method">
            <a:extLst>
              <a:ext uri="{FF2B5EF4-FFF2-40B4-BE49-F238E27FC236}">
                <a16:creationId xmlns:a16="http://schemas.microsoft.com/office/drawing/2014/main" id="{2CEF61E5-242D-41F5-A731-C65B471FF885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先用年龄、身高、服装、气质与习惯动作固定人物，再生成正侧背三视图和头像。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角色三视图与每个分镜对应，减少后续镜头中的服装漂移和面部变化。</a:t>
            </a:r>
          </a:p>
        </p:txBody>
      </p:sp>
      <p:sp>
        <p:nvSpPr>
          <p:cNvPr id="12" name="footer-left-8">
            <a:extLst>
              <a:ext uri="{FF2B5EF4-FFF2-40B4-BE49-F238E27FC236}">
                <a16:creationId xmlns:a16="http://schemas.microsoft.com/office/drawing/2014/main" id="{DB24344F-4519-430F-A7A2-9611F959D6E1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13" name="footer-right-8">
            <a:extLst>
              <a:ext uri="{FF2B5EF4-FFF2-40B4-BE49-F238E27FC236}">
                <a16:creationId xmlns:a16="http://schemas.microsoft.com/office/drawing/2014/main" id="{DB732712-1007-483A-8EC4-AFBB9B006FC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426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-9">
            <a:extLst>
              <a:ext uri="{FF2B5EF4-FFF2-40B4-BE49-F238E27FC236}">
                <a16:creationId xmlns:a16="http://schemas.microsoft.com/office/drawing/2014/main" id="{ACA55766-2BBC-436A-A606-DABCF74F8B9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案例三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EC82A4F4-89A5-45A3-8EC9-5A9B18BF7A80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先导片的场景与镜头节奏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24960" r="24960"/>
          <a:stretch>
            <a:fillRect/>
          </a:stretch>
        </p:blipFill>
        <p:spPr>
          <a:xfrm>
            <a:off x="495300" y="1657350"/>
            <a:ext cx="2628900" cy="29527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24960" r="24960"/>
          <a:stretch>
            <a:fillRect/>
          </a:stretch>
        </p:blipFill>
        <p:spPr>
          <a:xfrm>
            <a:off x="3390900" y="1657350"/>
            <a:ext cx="2628900" cy="29527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24960" r="24960"/>
          <a:stretch>
            <a:fillRect/>
          </a:stretch>
        </p:blipFill>
        <p:spPr>
          <a:xfrm>
            <a:off x="6286500" y="1657350"/>
            <a:ext cx="2628900" cy="29527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24960" r="24960"/>
          <a:stretch>
            <a:fillRect/>
          </a:stretch>
        </p:blipFill>
        <p:spPr>
          <a:xfrm>
            <a:off x="9182100" y="1657350"/>
            <a:ext cx="2628900" cy="2952750"/>
          </a:xfrm>
          <a:prstGeom prst="rect">
            <a:avLst/>
          </a:prstGeom>
        </p:spPr>
      </p:pic>
      <p:sp>
        <p:nvSpPr>
          <p:cNvPr id="7" name="video-rhythm-copy">
            <a:extLst>
              <a:ext uri="{FF2B5EF4-FFF2-40B4-BE49-F238E27FC236}">
                <a16:creationId xmlns:a16="http://schemas.microsoft.com/office/drawing/2014/main" id="{C93940D8-37ED-4822-AE54-FC367AD23A99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前段用人物近景和手持细节建立情绪，中段切到孤立走廊，后段回到人物近景完成恐惧反应。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画面从暖色社交空间切换到冷色封闭空间，形成清晰的情绪反差。</a:t>
            </a:r>
          </a:p>
        </p:txBody>
      </p:sp>
      <p:sp>
        <p:nvSpPr>
          <p:cNvPr id="8" name="footer-left-9">
            <a:extLst>
              <a:ext uri="{FF2B5EF4-FFF2-40B4-BE49-F238E27FC236}">
                <a16:creationId xmlns:a16="http://schemas.microsoft.com/office/drawing/2014/main" id="{4A14DD61-FC50-4589-817F-84829FCDAC7C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9" name="footer-right-9">
            <a:extLst>
              <a:ext uri="{FF2B5EF4-FFF2-40B4-BE49-F238E27FC236}">
                <a16:creationId xmlns:a16="http://schemas.microsoft.com/office/drawing/2014/main" id="{2D071A9D-6633-4647-91B5-9B2C5C2BC93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300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-10">
            <a:extLst>
              <a:ext uri="{FF2B5EF4-FFF2-40B4-BE49-F238E27FC236}">
                <a16:creationId xmlns:a16="http://schemas.microsoft.com/office/drawing/2014/main" id="{F3AB0E3B-600F-4EF9-86D0-6CF3403665F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经历补充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AA7DF8CC-0DC3-4888-812F-194EBF21D6D1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校园与社团运营实践</a:t>
            </a:r>
          </a:p>
        </p:txBody>
      </p:sp>
      <p:sp>
        <p:nvSpPr>
          <p:cNvPr id="3" name="club-red-cross-title">
            <a:extLst>
              <a:ext uri="{FF2B5EF4-FFF2-40B4-BE49-F238E27FC236}">
                <a16:creationId xmlns:a16="http://schemas.microsoft.com/office/drawing/2014/main" id="{B0017247-A756-44EA-B74D-94D36A75DA7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红十字社团策宣部</a:t>
            </a:r>
          </a:p>
          <a:p>
            <a:pPr algn="l">
              <a:defRPr sz="165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活动运营与宣传</a:t>
            </a:r>
          </a:p>
        </p:txBody>
      </p:sp>
      <p:sp>
        <p:nvSpPr>
          <p:cNvPr id="4" name="club-red-cross-copy">
            <a:extLst>
              <a:ext uri="{FF2B5EF4-FFF2-40B4-BE49-F238E27FC236}">
                <a16:creationId xmlns:a16="http://schemas.microsoft.com/office/drawing/2014/main" id="{66716B2F-5B9D-4764-80F8-D123726BD686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32385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负责 4 次校园活动的宣传策划，活动参与率提升 15%。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使用 Excel 收集反馈和参与数据，调整活动形式，并沉淀可复用的活动 SOP。</a:t>
            </a:r>
          </a:p>
        </p:txBody>
      </p:sp>
      <p:sp>
        <p:nvSpPr>
          <p:cNvPr id="5" name="club-hongwei-title">
            <a:extLst>
              <a:ext uri="{FF2B5EF4-FFF2-40B4-BE49-F238E27FC236}">
                <a16:creationId xmlns:a16="http://schemas.microsoft.com/office/drawing/2014/main" id="{7B6E858B-60C1-4229-8187-57EE55380E26}"/>
              </a:ext>
            </a:extLst>
          </p:cNvPr>
          <p:cNvSpPr>
            <a:spLocks noGrp="1"/>
          </p:cNvSpPr>
          <p:nvPr/>
        </p:nvSpPr>
        <p:spPr>
          <a:xfrm>
            <a:off x="4457700" y="158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B8B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8B83"/>
                </a:solidFill>
                <a:latin typeface="Arial"/>
                <a:ea typeface="Arial"/>
                <a:cs typeface="Arial"/>
              </a:rPr>
              <a:t>华中农业大学红微工作室</a:t>
            </a:r>
          </a:p>
          <a:p>
            <a:pPr algn="l">
              <a:defRPr sz="1650" b="1">
                <a:solidFill>
                  <a:srgbClr val="0B8B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8B83"/>
                </a:solidFill>
                <a:latin typeface="Arial"/>
                <a:ea typeface="Arial"/>
                <a:cs typeface="Arial"/>
              </a:rPr>
              <a:t>新媒体运营</a:t>
            </a:r>
          </a:p>
        </p:txBody>
      </p:sp>
      <p:sp>
        <p:nvSpPr>
          <p:cNvPr id="6" name="club-hongwei-copy">
            <a:extLst>
              <a:ext uri="{FF2B5EF4-FFF2-40B4-BE49-F238E27FC236}">
                <a16:creationId xmlns:a16="http://schemas.microsoft.com/office/drawing/2014/main" id="{DEA7B125-6F06-43E4-9AA6-34B8B8DE36FD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32385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负责 15 次院校活动拍摄和公众号配图筛选，单篇推文阅读量超过 800。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线上打卡活动吸引 150+ 学生参与，带动账号粉丝增长 8%；月互动量增长约 15%。</a:t>
            </a:r>
          </a:p>
        </p:txBody>
      </p:sp>
      <p:sp>
        <p:nvSpPr>
          <p:cNvPr id="7" name="research-project-title">
            <a:extLst>
              <a:ext uri="{FF2B5EF4-FFF2-40B4-BE49-F238E27FC236}">
                <a16:creationId xmlns:a16="http://schemas.microsoft.com/office/drawing/2014/main" id="{DBC5F5FF-311C-4BDF-A9E6-465F2FD9BD7E}"/>
              </a:ext>
            </a:extLst>
          </p:cNvPr>
          <p:cNvSpPr>
            <a:spLocks noGrp="1"/>
          </p:cNvSpPr>
          <p:nvPr/>
        </p:nvSpPr>
        <p:spPr>
          <a:xfrm>
            <a:off x="8229600" y="1581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E65F4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5F4C"/>
                </a:solidFill>
                <a:latin typeface="Arial"/>
                <a:ea typeface="Arial"/>
                <a:cs typeface="Arial"/>
              </a:rPr>
              <a:t>调研项目</a:t>
            </a:r>
          </a:p>
        </p:txBody>
      </p:sp>
      <p:sp>
        <p:nvSpPr>
          <p:cNvPr id="8" name="research-project-copy">
            <a:extLst>
              <a:ext uri="{FF2B5EF4-FFF2-40B4-BE49-F238E27FC236}">
                <a16:creationId xmlns:a16="http://schemas.microsoft.com/office/drawing/2014/main" id="{7A40EC15-E4B3-441E-98A2-62FFED1DDCAA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314325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数字消费行为代际差异研究</a:t>
            </a:r>
          </a:p>
          <a:p>
            <a:pPr algn="l">
              <a:defRPr sz="11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使用 CFPS 2022 数据识别 Z 世代“高参与、低消费”特征，输出用户分层与内容策略建议。</a:t>
            </a:r>
          </a:p>
          <a:p>
            <a:endParaRPr sz="112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1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湖北大学生奶茶消费行为调研</a:t>
            </a:r>
          </a:p>
          <a:p>
            <a:pPr algn="l">
              <a:defRPr sz="11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回收 112 份有效样本，分析购买意愿并输出产品、定价和渠道建议。</a:t>
            </a:r>
          </a:p>
        </p:txBody>
      </p:sp>
      <p:sp>
        <p:nvSpPr>
          <p:cNvPr id="9" name="footer-left-10">
            <a:extLst>
              <a:ext uri="{FF2B5EF4-FFF2-40B4-BE49-F238E27FC236}">
                <a16:creationId xmlns:a16="http://schemas.microsoft.com/office/drawing/2014/main" id="{0A390E3D-2D4F-48D4-95F1-B909DCF6EE08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10" name="footer-right-10">
            <a:extLst>
              <a:ext uri="{FF2B5EF4-FFF2-40B4-BE49-F238E27FC236}">
                <a16:creationId xmlns:a16="http://schemas.microsoft.com/office/drawing/2014/main" id="{9F7E530A-E896-40D8-B2BB-348F26273E1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105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-11">
            <a:extLst>
              <a:ext uri="{FF2B5EF4-FFF2-40B4-BE49-F238E27FC236}">
                <a16:creationId xmlns:a16="http://schemas.microsoft.com/office/drawing/2014/main" id="{4ED78E85-F39B-4F0E-BE49-64D39B7EF9F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案例四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0081C488-84D6-4B3D-AE2E-6F1C1FA7DC24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IP运营测试作业：热点与IP结合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11957" r="11957"/>
          <a:stretch>
            <a:fillRect/>
          </a:stretch>
        </p:blipFill>
        <p:spPr>
          <a:xfrm>
            <a:off x="495300" y="1619250"/>
            <a:ext cx="5334000" cy="3943350"/>
          </a:xfrm>
          <a:prstGeom prst="rect">
            <a:avLst/>
          </a:prstGeom>
        </p:spPr>
      </p:pic>
      <p:sp>
        <p:nvSpPr>
          <p:cNvPr id="4" name="ip-brief-copy">
            <a:extLst>
              <a:ext uri="{FF2B5EF4-FFF2-40B4-BE49-F238E27FC236}">
                <a16:creationId xmlns:a16="http://schemas.microsoft.com/office/drawing/2014/main" id="{46C01C8D-3EDD-421F-B110-61E270924C12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504825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项目背景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为《李哪吒上学记》选择近期网络热梗，策划适合小红书和抖音传播的新媒体内容。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选题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以《乘风2026》心愿便利贴舞台为热点，与《李哪吒上学记》收官曲和三位女孩角色结合。</a:t>
            </a:r>
          </a:p>
          <a:p>
            <a:endParaRPr sz="1275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核心策略</a:t>
            </a:r>
          </a:p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将热梗的轻松感与 IP 的勇气、成长和互助内核连接，避免只追热度而偏离角色调性。</a:t>
            </a:r>
          </a:p>
        </p:txBody>
      </p:sp>
      <p:sp>
        <p:nvSpPr>
          <p:cNvPr id="5" name="footer-left-11">
            <a:extLst>
              <a:ext uri="{FF2B5EF4-FFF2-40B4-BE49-F238E27FC236}">
                <a16:creationId xmlns:a16="http://schemas.microsoft.com/office/drawing/2014/main" id="{8FBE8D5A-D68F-46F0-B1ED-ABFD89769B09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6" name="footer-right-11">
            <a:extLst>
              <a:ext uri="{FF2B5EF4-FFF2-40B4-BE49-F238E27FC236}">
                <a16:creationId xmlns:a16="http://schemas.microsoft.com/office/drawing/2014/main" id="{2A82CD47-9D36-45DF-8745-E01973943918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264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-12">
            <a:extLst>
              <a:ext uri="{FF2B5EF4-FFF2-40B4-BE49-F238E27FC236}">
                <a16:creationId xmlns:a16="http://schemas.microsoft.com/office/drawing/2014/main" id="{92D1B888-9C79-42D3-BA2E-96C25F964AF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案例四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C00CFBD8-8623-4D11-8AEF-3A6D2014EB26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创意内容：东海女团心愿便利贴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27665" r="27665"/>
          <a:stretch>
            <a:fillRect/>
          </a:stretch>
        </p:blipFill>
        <p:spPr>
          <a:xfrm>
            <a:off x="476250" y="1638300"/>
            <a:ext cx="2571750" cy="3238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27665" r="27665"/>
          <a:stretch>
            <a:fillRect/>
          </a:stretch>
        </p:blipFill>
        <p:spPr>
          <a:xfrm>
            <a:off x="3333750" y="1638300"/>
            <a:ext cx="2571750" cy="3238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27665" r="27665"/>
          <a:stretch>
            <a:fillRect/>
          </a:stretch>
        </p:blipFill>
        <p:spPr>
          <a:xfrm>
            <a:off x="6191250" y="1638300"/>
            <a:ext cx="2571750" cy="32385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27665" r="27665"/>
          <a:stretch>
            <a:fillRect/>
          </a:stretch>
        </p:blipFill>
        <p:spPr>
          <a:xfrm>
            <a:off x="9048750" y="1638300"/>
            <a:ext cx="2571750" cy="3238500"/>
          </a:xfrm>
          <a:prstGeom prst="rect">
            <a:avLst/>
          </a:prstGeom>
        </p:spPr>
      </p:pic>
      <p:sp>
        <p:nvSpPr>
          <p:cNvPr id="7" name="ip-assets-copy">
            <a:extLst>
              <a:ext uri="{FF2B5EF4-FFF2-40B4-BE49-F238E27FC236}">
                <a16:creationId xmlns:a16="http://schemas.microsoft.com/office/drawing/2014/main" id="{DB18AA47-2CEE-4061-8A0A-71AB9086F1B2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视觉交付包含 1 张封面和 3 张内页。三位角色以心愿便利贴回应催更，形成可连续发布的小红书图文或抖音短内容。</a:t>
            </a:r>
          </a:p>
        </p:txBody>
      </p:sp>
      <p:sp>
        <p:nvSpPr>
          <p:cNvPr id="8" name="footer-left-12">
            <a:extLst>
              <a:ext uri="{FF2B5EF4-FFF2-40B4-BE49-F238E27FC236}">
                <a16:creationId xmlns:a16="http://schemas.microsoft.com/office/drawing/2014/main" id="{B2C9D89B-5478-4C9B-BC66-4573C06A99B5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9" name="footer-right-12">
            <a:extLst>
              <a:ext uri="{FF2B5EF4-FFF2-40B4-BE49-F238E27FC236}">
                <a16:creationId xmlns:a16="http://schemas.microsoft.com/office/drawing/2014/main" id="{0EDE4706-8431-4FD9-A122-592F28565F8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0596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-13">
            <a:extLst>
              <a:ext uri="{FF2B5EF4-FFF2-40B4-BE49-F238E27FC236}">
                <a16:creationId xmlns:a16="http://schemas.microsoft.com/office/drawing/2014/main" id="{3EF66719-71AA-494E-890C-21627352C56A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案例四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B0165613-98A3-4D6A-9010-F5FEC5D7EB9E}"/>
              </a:ext>
            </a:extLst>
          </p:cNvPr>
          <p:cNvSpPr>
            <a:spLocks noGrp="1"/>
          </p:cNvSpPr>
          <p:nvPr/>
        </p:nvSpPr>
        <p:spPr>
          <a:xfrm>
            <a:off x="495300" y="6286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传播文案与热点转化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12111" r="12111"/>
          <a:stretch>
            <a:fillRect/>
          </a:stretch>
        </p:blipFill>
        <p:spPr>
          <a:xfrm>
            <a:off x="495300" y="1619250"/>
            <a:ext cx="4953000" cy="3676650"/>
          </a:xfrm>
          <a:prstGeom prst="rect">
            <a:avLst/>
          </a:prstGeom>
        </p:spPr>
      </p:pic>
      <p:sp>
        <p:nvSpPr>
          <p:cNvPr id="4" name="ip-copy-title">
            <a:extLst>
              <a:ext uri="{FF2B5EF4-FFF2-40B4-BE49-F238E27FC236}">
                <a16:creationId xmlns:a16="http://schemas.microsoft.com/office/drawing/2014/main" id="{A9E40AD1-88C3-409A-A343-797945C876D4}"/>
              </a:ext>
            </a:extLst>
          </p:cNvPr>
          <p:cNvSpPr>
            <a:spLocks noGrp="1"/>
          </p:cNvSpPr>
          <p:nvPr/>
        </p:nvSpPr>
        <p:spPr>
          <a:xfrm>
            <a:off x="5886450" y="171450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0D5E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5E8A"/>
                </a:solidFill>
                <a:latin typeface="Arial"/>
                <a:ea typeface="Arial"/>
                <a:cs typeface="Arial"/>
              </a:rPr>
              <a:t>东海女团带着她们的心愿便利贴来了~</a:t>
            </a:r>
          </a:p>
        </p:txBody>
      </p:sp>
      <p:sp>
        <p:nvSpPr>
          <p:cNvPr id="5" name="ip-copy-body">
            <a:extLst>
              <a:ext uri="{FF2B5EF4-FFF2-40B4-BE49-F238E27FC236}">
                <a16:creationId xmlns:a16="http://schemas.microsoft.com/office/drawing/2014/main" id="{16C91890-CEC6-49B7-A09D-D620725CBDA8}"/>
              </a:ext>
            </a:extLst>
          </p:cNvPr>
          <p:cNvSpPr>
            <a:spLocks noGrp="1"/>
          </p:cNvSpPr>
          <p:nvPr/>
        </p:nvSpPr>
        <p:spPr>
          <a:xfrm>
            <a:off x="5886450" y="2343150"/>
            <a:ext cx="53340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话题</a:t>
            </a:r>
          </a:p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#心愿便利贴 #李哪吒上学记 #李哪吒 #常小娅 #何香菇 #二次元 #东海小学 #乘风2026 #搞笑</a:t>
            </a:r>
          </a:p>
          <a:p>
            <a:endParaRPr sz="1200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热点转化</a:t>
            </a:r>
          </a:p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当听友向“东海小学广播站”催更番外篇时，三位女孩模仿心愿便利贴舞台作出积极回应。</a:t>
            </a:r>
          </a:p>
          <a:p>
            <a:endParaRPr sz="1200" b="0">
              <a:solidFill>
                <a:srgbClr val="18232D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匹配逻辑</a:t>
            </a:r>
          </a:p>
          <a:p>
            <a:pPr algn="l">
              <a:defRPr sz="12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热梗具备讨论度，IP 的“大心脏”精神与勇气主题一致，三位女孩也能对应不同个性表达。</a:t>
            </a:r>
          </a:p>
        </p:txBody>
      </p:sp>
      <p:sp>
        <p:nvSpPr>
          <p:cNvPr id="6" name="footer-left-13">
            <a:extLst>
              <a:ext uri="{FF2B5EF4-FFF2-40B4-BE49-F238E27FC236}">
                <a16:creationId xmlns:a16="http://schemas.microsoft.com/office/drawing/2014/main" id="{2040A598-B655-481E-A58D-259868999E2C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秦齐 运营实习作品集</a:t>
            </a:r>
          </a:p>
        </p:txBody>
      </p:sp>
      <p:sp>
        <p:nvSpPr>
          <p:cNvPr id="7" name="footer-right-13">
            <a:extLst>
              <a:ext uri="{FF2B5EF4-FFF2-40B4-BE49-F238E27FC236}">
                <a16:creationId xmlns:a16="http://schemas.microsoft.com/office/drawing/2014/main" id="{BB5C7D7F-8227-4D3F-91FE-A5E4AE7EF1B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50" b="0">
                <a:solidFill>
                  <a:srgbClr val="5E6B7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B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17663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ing-title">
            <a:extLst>
              <a:ext uri="{FF2B5EF4-FFF2-40B4-BE49-F238E27FC236}">
                <a16:creationId xmlns:a16="http://schemas.microsoft.com/office/drawing/2014/main" id="{EFDE9AA9-54A6-47EF-981A-87830E4D201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我的运营方法</a:t>
            </a:r>
          </a:p>
        </p:txBody>
      </p:sp>
      <p:sp>
        <p:nvSpPr>
          <p:cNvPr id="2" name="method-1">
            <a:extLst>
              <a:ext uri="{FF2B5EF4-FFF2-40B4-BE49-F238E27FC236}">
                <a16:creationId xmlns:a16="http://schemas.microsoft.com/office/drawing/2014/main" id="{8B8D579C-94E2-4B18-A249-7806789E27A6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3333750" cy="1390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用户洞察</a:t>
            </a:r>
          </a:p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从评论、搜索词和反馈中提炼需求，用画像与场景确定内容重点。</a:t>
            </a:r>
          </a:p>
        </p:txBody>
      </p:sp>
      <p:sp>
        <p:nvSpPr>
          <p:cNvPr id="3" name="method-2">
            <a:extLst>
              <a:ext uri="{FF2B5EF4-FFF2-40B4-BE49-F238E27FC236}">
                <a16:creationId xmlns:a16="http://schemas.microsoft.com/office/drawing/2014/main" id="{EDF15ECC-DA4F-44DB-87B5-B18ECE15F32A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3333750" cy="1390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内容生产</a:t>
            </a:r>
          </a:p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围绕角色热点、消费场景和情绪价值设计选题，统一标题、封面和镜头表达。</a:t>
            </a:r>
          </a:p>
        </p:txBody>
      </p:sp>
      <p:sp>
        <p:nvSpPr>
          <p:cNvPr id="4" name="method-3">
            <a:extLst>
              <a:ext uri="{FF2B5EF4-FFF2-40B4-BE49-F238E27FC236}">
                <a16:creationId xmlns:a16="http://schemas.microsoft.com/office/drawing/2014/main" id="{A6AA5E1D-E0C9-468B-8D94-DA06AE584631}"/>
              </a:ext>
            </a:extLst>
          </p:cNvPr>
          <p:cNvSpPr>
            <a:spLocks noGrp="1"/>
          </p:cNvSpPr>
          <p:nvPr/>
        </p:nvSpPr>
        <p:spPr>
          <a:xfrm>
            <a:off x="8229600" y="1962150"/>
            <a:ext cx="3333750" cy="1390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数据复盘</a:t>
            </a:r>
          </a:p>
          <a:p>
            <a:pPr algn="l"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追踪曝光、观看、点击率、互动和分享，把高表现规律沉淀为可复用 SOP。</a:t>
            </a:r>
          </a:p>
        </p:txBody>
      </p:sp>
      <p:sp>
        <p:nvSpPr>
          <p:cNvPr id="5" name="closing-contact">
            <a:extLst>
              <a:ext uri="{FF2B5EF4-FFF2-40B4-BE49-F238E27FC236}">
                <a16:creationId xmlns:a16="http://schemas.microsoft.com/office/drawing/2014/main" id="{87AC1027-8014-43CA-B1F0-6733BB02C539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191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秦齐</a:t>
            </a:r>
          </a:p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武汉</a:t>
            </a:r>
          </a:p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15087151290</a:t>
            </a:r>
          </a:p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qmjianli@qq.com</a:t>
            </a:r>
          </a:p>
        </p:txBody>
      </p:sp>
      <p:sp>
        <p:nvSpPr>
          <p:cNvPr id="6" name="closing-links">
            <a:extLst>
              <a:ext uri="{FF2B5EF4-FFF2-40B4-BE49-F238E27FC236}">
                <a16:creationId xmlns:a16="http://schemas.microsoft.com/office/drawing/2014/main" id="{BFFD727E-8FC8-4E73-AB31-65F8E84CD557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953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FD7D0"/>
                </a:solidFill>
                <a:latin typeface="Arial"/>
                <a:ea typeface="Arial"/>
                <a:cs typeface="Arial"/>
              </a:rPr>
              <a:t>ACG 二创账号</a:t>
            </a:r>
          </a:p>
          <a:p>
            <a:pPr algn="l">
              <a:defRPr sz="1125" b="0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FD7D0"/>
                </a:solidFill>
                <a:latin typeface="Arial"/>
                <a:ea typeface="Arial"/>
                <a:cs typeface="Arial"/>
              </a:rPr>
              <a:t>https://xhslink.cn/m/9sD0JMn5IvH</a:t>
            </a:r>
          </a:p>
          <a:p>
            <a:endParaRPr sz="1125" b="0">
              <a:solidFill>
                <a:srgbClr val="8FD7D0"/>
              </a:solidFill>
              <a:latin typeface="Arial"/>
              <a:ea typeface="Arial"/>
              <a:cs typeface="Arial"/>
            </a:endParaRPr>
          </a:p>
          <a:p>
            <a:pPr algn="l">
              <a:defRPr sz="1125" b="0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FD7D0"/>
                </a:solidFill>
                <a:latin typeface="Arial"/>
                <a:ea typeface="Arial"/>
                <a:cs typeface="Arial"/>
              </a:rPr>
              <a:t>图文账号</a:t>
            </a:r>
          </a:p>
          <a:p>
            <a:pPr algn="l">
              <a:defRPr sz="1125" b="0">
                <a:solidFill>
                  <a:srgbClr val="8FD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FD7D0"/>
                </a:solidFill>
                <a:latin typeface="Arial"/>
                <a:ea typeface="Arial"/>
                <a:cs typeface="Arial"/>
              </a:rPr>
              <a:t>https://xhslink.cn/m/8Z7slIQKEpQ</a:t>
            </a:r>
          </a:p>
        </p:txBody>
      </p:sp>
    </p:spTree>
    <p:extLst>
      <p:ext uri="{BB962C8B-B14F-4D97-AF65-F5344CB8AC3E}">
        <p14:creationId xmlns:p14="http://schemas.microsoft.com/office/powerpoint/2010/main" val="19757447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DocSecurity>0</DocSecurity>
  <PresentationFormat>宽屏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齐 秦</cp:lastModifiedBy>
  <cp:revision>1</cp:revision>
  <dcterms:created xsi:type="dcterms:W3CDTF">2026-09-17T13:38:25Z</dcterms:created>
  <dcterms:modified xsi:type="dcterms:W3CDTF">2026-09-17T13:40:31Z</dcterms:modified>
</cp:coreProperties>
</file>